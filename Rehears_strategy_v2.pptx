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/mask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4572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02920" y="1965960"/>
            <a:ext cx="11247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Пересчитано честно</a:t>
            </a:r>
            <a:endParaRPr lang="en-US" sz="5800" dirty="0"/>
          </a:p>
        </p:txBody>
      </p:sp>
      <p:sp>
        <p:nvSpPr>
          <p:cNvPr id="5" name="Text 2"/>
          <p:cNvSpPr/>
          <p:nvPr/>
        </p:nvSpPr>
        <p:spPr>
          <a:xfrm>
            <a:off x="502920" y="32004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Рынок РФ оказался </a:t>
            </a:r>
            <a:pPr indent="0" marL="0">
              <a:buNone/>
            </a:pPr>
            <a:r>
              <a:rPr lang="en-US" sz="2100" b="1" dirty="0">
                <a:solidFill>
                  <a:srgbClr val="D4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меньше</a:t>
            </a:r>
            <a:pPr indent="0" marL="0">
              <a:buNone/>
            </a:pPr>
            <a:r>
              <a:rPr lang="en-US" sz="2100" dirty="0">
                <a:solidFill>
                  <a:srgbClr val="C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рынок США — </a:t>
            </a:r>
            <a:pPr indent="0" marL="0">
              <a:buNone/>
            </a:pPr>
            <a:r>
              <a:rPr lang="en-US" sz="2100" b="1" dirty="0">
                <a:solidFill>
                  <a:srgbClr val="D454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20–40 раз больше</a:t>
            </a:r>
            <a:pPr indent="0" marL="0">
              <a:buNone/>
            </a:pPr>
            <a:r>
              <a:rPr lang="en-US" sz="2100" dirty="0">
                <a:solidFill>
                  <a:srgbClr val="C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Что это меняет.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02920" y="475488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211F27"/>
          </a:solidFill>
          <a:ln/>
        </p:spPr>
      </p:sp>
      <p:sp>
        <p:nvSpPr>
          <p:cNvPr id="7" name="Text 4"/>
          <p:cNvSpPr/>
          <p:nvPr/>
        </p:nvSpPr>
        <p:spPr>
          <a:xfrm>
            <a:off x="502920" y="47548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A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перепроверены · июль 2026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5349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СТД РФ · Минкультуры · EdTA · AACT · IRS 990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Год 1 на органике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сценарий: 5 новых театров/мес (+15%), конверсия 5%, отток 4%. Воронка работает — база мала.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0" b="1" dirty="0">
                <a:solidFill>
                  <a:srgbClr val="D454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22 500 ₽</a:t>
            </a:r>
            <a:endParaRPr lang="en-US" sz="10400" dirty="0"/>
          </a:p>
        </p:txBody>
      </p:sp>
      <p:sp>
        <p:nvSpPr>
          <p:cNvPr id="5" name="Text 3"/>
          <p:cNvSpPr/>
          <p:nvPr/>
        </p:nvSpPr>
        <p:spPr>
          <a:xfrm>
            <a:off x="566928" y="3611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за весь первый год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778240" y="1828800"/>
            <a:ext cx="2953512" cy="914400"/>
          </a:xfrm>
          <a:prstGeom prst="roundRect">
            <a:avLst>
              <a:gd name="adj" fmla="val 8000"/>
            </a:avLst>
          </a:prstGeom>
          <a:solidFill>
            <a:srgbClr val="211F27"/>
          </a:solidFill>
          <a:ln w="12700">
            <a:solidFill>
              <a:srgbClr val="3432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06840" y="1920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~7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00684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платящих Pro к концу года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778240" y="2880360"/>
            <a:ext cx="2953512" cy="914400"/>
          </a:xfrm>
          <a:prstGeom prst="roundRect">
            <a:avLst>
              <a:gd name="adj" fmla="val 8000"/>
            </a:avLst>
          </a:prstGeom>
          <a:solidFill>
            <a:srgbClr val="211F27"/>
          </a:solidFill>
          <a:ln w="12700">
            <a:solidFill>
              <a:srgbClr val="343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006840" y="29718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~4 600 ₽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9006840" y="33832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на 12-м месяце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778240" y="3931920"/>
            <a:ext cx="2953512" cy="914400"/>
          </a:xfrm>
          <a:prstGeom prst="roundRect">
            <a:avLst>
              <a:gd name="adj" fmla="val 8000"/>
            </a:avLst>
          </a:prstGeom>
          <a:solidFill>
            <a:srgbClr val="211F27"/>
          </a:solidFill>
          <a:ln w="12700">
            <a:solidFill>
              <a:srgbClr val="3432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6840" y="40233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145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9006840" y="44348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театров в базе Free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Вывод: это валидация, а не доход. 5% конверсии от медленно растущей базы = единицы платящих.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 · Пересчитанная стратегия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5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Рынок РФ: меньше, чем казалось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Перепроверка по реестру СТД и региональной статистике. Платящее ядро — сотни, не тысячи.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DF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83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54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320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частных театров в реестре СТД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0906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ядро платящей ЦА; с незарегистрированными — 500–800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61104" y="15544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DF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35424" y="1783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454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500–1 500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35424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реалистичный платящий SAM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35424" y="30906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частные + активные независимые + онлайн-школы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065008" y="1554480"/>
            <a:ext cx="35661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2DF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39328" y="17830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D454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0,5–2,5 млн ₽/год</a:t>
            </a:r>
            <a:endParaRPr lang="en-US" sz="2300" dirty="0"/>
          </a:p>
        </p:txBody>
      </p:sp>
      <p:sp>
        <p:nvSpPr>
          <p:cNvPr id="14" name="Text 12"/>
          <p:cNvSpPr/>
          <p:nvPr/>
        </p:nvSpPr>
        <p:spPr>
          <a:xfrm>
            <a:off x="8339328" y="2651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новый потолок B2C по РФ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39328" y="309067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захвате 10–20% SAM · прежняя оценка 8,4 млн — фантазия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11274552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DF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4279392"/>
            <a:ext cx="603504" cy="603504"/>
          </a:xfrm>
          <a:prstGeom prst="ellipse">
            <a:avLst/>
          </a:prstGeom>
          <a:solidFill>
            <a:srgbClr val="FBE6DC"/>
          </a:solidFill>
          <a:ln/>
        </p:spPr>
      </p:sp>
      <p:pic>
        <p:nvPicPr>
          <p:cNvPr id="18" name="Image 0" descr="ic/wa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416552"/>
            <a:ext cx="329184" cy="329184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600200" y="4160520"/>
            <a:ext cx="9875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D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Любительских коллективов — десятки тысяч (445 в одной Рязанской области), </a:t>
            </a:r>
            <a:pPr indent="0" marL="0">
              <a:buNone/>
            </a:pPr>
            <a:r>
              <a:rPr lang="en-US" sz="1350" b="1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они почти не платят: </a:t>
            </a:r>
            <a:pPr indent="0" marL="0">
              <a:buNone/>
            </a:pPr>
            <a:r>
              <a:rPr lang="en-US" sz="1350" dirty="0">
                <a:solidFill>
                  <a:srgbClr val="3D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кружки при ДК на госфинансировании, без бюджета на софт.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реестр частных театров СТД РФ (2020–н.в.), Минкультуры РФ, региональная статистика.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 · Пересчитанная стратегия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5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США: разрыв в 20–40 раз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Целевых организаций в США — 32 000+. И крупнейший сегмент не community, а школьный театр.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РФ · платящий SAM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502920" cy="566928"/>
          </a:xfrm>
          <a:prstGeom prst="roundRect">
            <a:avLst>
              <a:gd name="adj" fmla="val 10909"/>
            </a:avLst>
          </a:prstGeom>
          <a:solidFill>
            <a:srgbClr val="16151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0574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5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500–1 500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2880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США · целевые организации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9692640" cy="566928"/>
          </a:xfrm>
          <a:prstGeom prst="roundRect">
            <a:avLst>
              <a:gd name="adj" fmla="val 9677"/>
            </a:avLst>
          </a:prstGeom>
          <a:solidFill>
            <a:srgbClr val="D4541E"/>
          </a:solidFill>
          <a:ln/>
        </p:spPr>
      </p:sp>
      <p:sp>
        <p:nvSpPr>
          <p:cNvPr id="9" name="Text 7"/>
          <p:cNvSpPr/>
          <p:nvPr/>
        </p:nvSpPr>
        <p:spPr>
          <a:xfrm>
            <a:off x="10287000" y="3246120"/>
            <a:ext cx="1737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D454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32 000+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457200" y="41148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DF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4251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54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26 000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731520" y="4864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школьных театральных программ K-12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52669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среднем 10 спектаклей в год — постоянные репетиции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61104" y="41148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DF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35424" y="4251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54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6 000+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535424" y="4864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community-театров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35424" y="52669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волонтёрские труппы, ровно ваш профиль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065008" y="411480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2DF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339328" y="42519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54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8 466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339328" y="48646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нонпрофит-театров (IRS 990)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339328" y="526694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суммарная выручка сегмента — свыше $4 млрд/год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594360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EdTA (schooltheatre.org), AACT, Cause IQ (IRS form 990).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 · Пересчитанная стратегия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5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Реалистичная траектория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на конец каждого года. Масштаб честный — поэтому первый столбик почти не виден.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88720" y="5010912"/>
            <a:ext cx="2377440" cy="109728"/>
          </a:xfrm>
          <a:prstGeom prst="roundRect">
            <a:avLst>
              <a:gd name="adj" fmla="val 41667"/>
            </a:avLst>
          </a:prstGeom>
          <a:solidFill>
            <a:srgbClr val="16151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450799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615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~5 тыс ₽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822960" y="5230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55961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РФ · органика · валидация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4343400"/>
            <a:ext cx="2377440" cy="777240"/>
          </a:xfrm>
          <a:prstGeom prst="roundRect">
            <a:avLst>
              <a:gd name="adj" fmla="val 5882"/>
            </a:avLst>
          </a:prstGeom>
          <a:solidFill>
            <a:srgbClr val="D4541E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3840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54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50–120 тыс ₽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480560" y="5230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97680" y="55961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РФ + B2B: 2–4 школы + 30–60 Pro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03920" y="2011680"/>
            <a:ext cx="2377440" cy="3108960"/>
          </a:xfrm>
          <a:prstGeom prst="roundRect">
            <a:avLst>
              <a:gd name="adj" fmla="val 1923"/>
            </a:avLst>
          </a:prstGeom>
          <a:solidFill>
            <a:srgbClr val="D4541E"/>
          </a:solidFill>
          <a:ln/>
        </p:spPr>
      </p:sp>
      <p:sp>
        <p:nvSpPr>
          <p:cNvPr id="13" name="Text 11"/>
          <p:cNvSpPr/>
          <p:nvPr/>
        </p:nvSpPr>
        <p:spPr>
          <a:xfrm>
            <a:off x="8138160" y="15087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D454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230–450 тыс ₽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8138160" y="5230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55280" y="55961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EN-версия · школьный театр США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5120640"/>
            <a:ext cx="10515600" cy="0"/>
          </a:xfrm>
          <a:prstGeom prst="line">
            <a:avLst/>
          </a:prstGeom>
          <a:noFill/>
          <a:ln w="25400">
            <a:solidFill>
              <a:srgbClr val="E2DF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 · Пересчитанная стратегия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2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51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Три решения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87552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C69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следует из пересчитанных цифр.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DF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83664"/>
            <a:ext cx="640080" cy="640080"/>
          </a:xfrm>
          <a:prstGeom prst="ellipse">
            <a:avLst/>
          </a:prstGeom>
          <a:solidFill>
            <a:srgbClr val="FBE6DC"/>
          </a:solidFill>
          <a:ln/>
        </p:spPr>
      </p:sp>
      <p:pic>
        <p:nvPicPr>
          <p:cNvPr id="6" name="Image 0" descr="ic/schoo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03911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8836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BE6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00" dirty="0"/>
          </a:p>
        </p:txBody>
      </p:sp>
      <p:sp>
        <p:nvSpPr>
          <p:cNvPr id="8" name="Text 5"/>
          <p:cNvSpPr/>
          <p:nvPr/>
        </p:nvSpPr>
        <p:spPr>
          <a:xfrm>
            <a:off x="1600200" y="1719072"/>
            <a:ext cx="4663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B2B-тариф школам — сейчас, не потом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400800" y="1719072"/>
            <a:ext cx="5029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РФ-B2C не окупит даже время. Первые реальные деньги — 2–4 контракта со школами и студиями (BL School и ШАИ — тёплый вход).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3035808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DF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777240" y="3364992"/>
            <a:ext cx="640080" cy="640080"/>
          </a:xfrm>
          <a:prstGeom prst="ellipse">
            <a:avLst/>
          </a:prstGeom>
          <a:solidFill>
            <a:srgbClr val="FBE6DC"/>
          </a:solidFill>
          <a:ln/>
        </p:spPr>
      </p:sp>
      <p:pic>
        <p:nvPicPr>
          <p:cNvPr id="12" name="Image 1" descr="ic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352044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77240" y="3364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BE6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00" dirty="0"/>
          </a:p>
        </p:txBody>
      </p:sp>
      <p:sp>
        <p:nvSpPr>
          <p:cNvPr id="14" name="Text 10"/>
          <p:cNvSpPr/>
          <p:nvPr/>
        </p:nvSpPr>
        <p:spPr>
          <a:xfrm>
            <a:off x="1600200" y="3200400"/>
            <a:ext cx="4663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EN-версия — обязательна, не опция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00800" y="3200400"/>
            <a:ext cx="5029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Потолок РФ 0,5–2,5 млн ₽/год достигается быстро. Без англоязычного рынка Rehears — хобби, с ним — бизнес.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4517136"/>
            <a:ext cx="11274552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E2DFE6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77240" y="4846320"/>
            <a:ext cx="640080" cy="640080"/>
          </a:xfrm>
          <a:prstGeom prst="ellipse">
            <a:avLst/>
          </a:prstGeom>
          <a:solidFill>
            <a:srgbClr val="FBE6DC"/>
          </a:solidFill>
          <a:ln/>
        </p:spPr>
      </p:sp>
      <p:pic>
        <p:nvPicPr>
          <p:cNvPr id="18" name="Image 2" descr="ic/mas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001768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77240" y="4846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BE6D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00" dirty="0"/>
          </a:p>
        </p:txBody>
      </p:sp>
      <p:sp>
        <p:nvSpPr>
          <p:cNvPr id="20" name="Text 15"/>
          <p:cNvSpPr/>
          <p:nvPr/>
        </p:nvSpPr>
        <p:spPr>
          <a:xfrm>
            <a:off x="1600200" y="4681728"/>
            <a:ext cx="46634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Целиться в школьный театр США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00800" y="4681728"/>
            <a:ext cx="5029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3B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26 000 программ, учителя с бюджетом школы, 10 спектаклей в год. Сегмент крупнее community и слабее охвачен конкурентами.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 · Пересчитанная стратегия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5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031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РФ — полигон.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D4541E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Мир — рынок.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371600" y="44348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C6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Обкатать на своих труппах и школах в РФ → включить B2B → выйти на 26 000 школьных театров США.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Rehears · Пересчитанная стратегия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3385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8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Rehears — пересчитано честно</dc:title>
  <dc:subject>PptxGenJS Presentation</dc:subject>
  <dc:creator>Евгений Алферов</dc:creator>
  <cp:lastModifiedBy>Евгений Алферов</cp:lastModifiedBy>
  <cp:revision>1</cp:revision>
  <dcterms:created xsi:type="dcterms:W3CDTF">2026-07-01T20:21:20Z</dcterms:created>
  <dcterms:modified xsi:type="dcterms:W3CDTF">2026-07-01T20:21:20Z</dcterms:modified>
</cp:coreProperties>
</file>